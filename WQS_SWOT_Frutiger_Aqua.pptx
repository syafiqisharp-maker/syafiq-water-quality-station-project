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5C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32004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188720"/>
            <a:ext cx="9445752" cy="4480560"/>
          </a:xfrm>
          <a:prstGeom prst="roundRect">
            <a:avLst/>
          </a:prstGeom>
          <a:solidFill>
            <a:srgbClr val="F5FCFF"/>
          </a:solidFill>
          <a:ln w="254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64592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WATER QUALITY STATION (WQS)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94560"/>
            <a:ext cx="8503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72A4A"/>
                </a:solidFill>
              </a:defRPr>
            </a:pPr>
            <a:r>
              <a:t>WQS Dashboard Module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38328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Product SWOT Analysis &amp; Future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297680"/>
            <a:ext cx="8503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C3D5A"/>
                </a:solidFill>
              </a:defRPr>
            </a:pPr>
            <a:r>
              <a:t>Automated Water Monitoring • In-House LoRa &amp; ESP32 • 200 Ponds Live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5C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32004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11480"/>
            <a:ext cx="2194560" cy="411480"/>
          </a:xfrm>
          <a:prstGeom prst="roundRect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● STRENGTH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41148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72A4A"/>
                </a:solidFill>
              </a:defRPr>
            </a:pPr>
            <a:r>
              <a:t>01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2A4A"/>
                </a:solidFill>
              </a:defRPr>
            </a:pPr>
            <a:r>
              <a:t>Auto Analyse &amp; Actionable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Key Point: Automatic graphs and quick alerts for up to 200 ponds at the same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57400"/>
            <a:ext cx="7772400" cy="4297680"/>
          </a:xfrm>
          <a:prstGeom prst="roundRect">
            <a:avLst/>
          </a:prstGeom>
          <a:solidFill>
            <a:srgbClr val="F5FCFF"/>
          </a:solidFill>
          <a:ln w="19050">
            <a:solidFill>
              <a:srgbClr val="A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7406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600" b="1">
                <a:solidFill>
                  <a:srgbClr val="082F49"/>
                </a:solidFill>
              </a:defRPr>
            </a:pPr>
            <a:r>
              <a:t>• Real-Time Data &amp; Trend Graphs:</a:t>
            </a:r>
          </a:p>
          <a:p>
            <a:pPr>
              <a:spcAft>
                <a:spcPts val="1000"/>
              </a:spcAft>
              <a:defRPr sz="1400">
                <a:solidFill>
                  <a:srgbClr val="1C3D5A"/>
                </a:solidFill>
              </a:defRPr>
            </a:pPr>
            <a:r>
              <a:t>   Automatically records water data and draws trend graphs for up to 200 ponds at the same time without manual work.</a:t>
            </a:r>
          </a:p>
          <a:p>
            <a:pPr>
              <a:spcBef>
                <a:spcPts val="800"/>
              </a:spcBef>
              <a:defRPr sz="1600" b="1">
                <a:solidFill>
                  <a:srgbClr val="082F49"/>
                </a:solidFill>
              </a:defRPr>
            </a:pPr>
            <a:r>
              <a:t>• Instant Warning When Values Go Wrong:</a:t>
            </a:r>
          </a:p>
          <a:p>
            <a:pPr>
              <a:spcAft>
                <a:spcPts val="1000"/>
              </a:spcAft>
              <a:defRPr sz="1400">
                <a:solidFill>
                  <a:srgbClr val="1C3D5A"/>
                </a:solidFill>
              </a:defRPr>
            </a:pPr>
            <a:r>
              <a:t>   Quickly detects abnormal readings like low oxygen or bad pH, warning the farm team before shrimp get hurt.</a:t>
            </a:r>
          </a:p>
          <a:p>
            <a:pPr>
              <a:spcBef>
                <a:spcPts val="800"/>
              </a:spcBef>
              <a:defRPr sz="1600" b="1">
                <a:solidFill>
                  <a:srgbClr val="082F49"/>
                </a:solidFill>
              </a:defRPr>
            </a:pPr>
            <a:r>
              <a:t>• Easy View for Farm Managers:</a:t>
            </a:r>
          </a:p>
          <a:p>
            <a:pPr>
              <a:spcAft>
                <a:spcPts val="1000"/>
              </a:spcAft>
              <a:defRPr sz="1400">
                <a:solidFill>
                  <a:srgbClr val="1C3D5A"/>
                </a:solidFill>
              </a:defRPr>
            </a:pPr>
            <a:r>
              <a:t>   Managers can see the current water situation across all 200 ponds on one screen, without waiting for manual paper test logs.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2057400"/>
            <a:ext cx="2697480" cy="429768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292608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KEY FACT</a:t>
            </a:r>
          </a:p>
          <a:p>
            <a:pPr algn="ctr">
              <a:spcBef>
                <a:spcPts val="800"/>
              </a:spcBef>
              <a:defRPr sz="2200" b="1">
                <a:solidFill>
                  <a:srgbClr val="10B981"/>
                </a:solidFill>
              </a:defRPr>
            </a:pPr>
            <a:r>
              <a:t>200 PONDS</a:t>
            </a:r>
          </a:p>
          <a:p>
            <a:pPr algn="ctr">
              <a:spcBef>
                <a:spcPts val="1000"/>
              </a:spcBef>
              <a:defRPr sz="1200">
                <a:solidFill>
                  <a:srgbClr val="1C3D5A"/>
                </a:solidFill>
              </a:defRPr>
            </a:pPr>
            <a:r>
              <a:t>Checked Together at the Same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5C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32004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11480"/>
            <a:ext cx="2194560" cy="411480"/>
          </a:xfrm>
          <a:prstGeom prst="roundRect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● STRENGTH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41148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72A4A"/>
                </a:solidFill>
              </a:defRPr>
            </a:pPr>
            <a:r>
              <a:t>02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2A4A"/>
                </a:solidFill>
              </a:defRPr>
            </a:pPr>
            <a:r>
              <a:t>100% Internally Developed &amp; Kaizen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Key Point: Full ownership of hardware and software, always improving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57400"/>
            <a:ext cx="7772400" cy="4297680"/>
          </a:xfrm>
          <a:prstGeom prst="roundRect">
            <a:avLst/>
          </a:prstGeom>
          <a:solidFill>
            <a:srgbClr val="F5FCFF"/>
          </a:solidFill>
          <a:ln w="19050">
            <a:solidFill>
              <a:srgbClr val="A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7406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600" b="1">
                <a:solidFill>
                  <a:srgbClr val="082F49"/>
                </a:solidFill>
              </a:defRPr>
            </a:pPr>
            <a:r>
              <a:t>• Built Completely In-House:</a:t>
            </a:r>
          </a:p>
          <a:p>
            <a:pPr>
              <a:spcAft>
                <a:spcPts val="1000"/>
              </a:spcAft>
              <a:defRPr sz="1400">
                <a:solidFill>
                  <a:srgbClr val="1C3D5A"/>
                </a:solidFill>
              </a:defRPr>
            </a:pPr>
            <a:r>
              <a:t>   I developed all the sensor electronics, circuit boards, code, and the web dashboard myself without hiring outside vendors.</a:t>
            </a:r>
          </a:p>
          <a:p>
            <a:pPr>
              <a:spcBef>
                <a:spcPts val="800"/>
              </a:spcBef>
              <a:defRPr sz="1600" b="1">
                <a:solidFill>
                  <a:srgbClr val="082F49"/>
                </a:solidFill>
              </a:defRPr>
            </a:pPr>
            <a:r>
              <a:t>• No Outside Vendor Dependency:</a:t>
            </a:r>
          </a:p>
          <a:p>
            <a:pPr>
              <a:spcAft>
                <a:spcPts val="1000"/>
              </a:spcAft>
              <a:defRPr sz="1400">
                <a:solidFill>
                  <a:srgbClr val="1C3D5A"/>
                </a:solidFill>
              </a:defRPr>
            </a:pPr>
            <a:r>
              <a:t>   No expensive support contracts with 3rd-party companies, and no waiting weeks for outside technicians to come help.</a:t>
            </a:r>
          </a:p>
          <a:p>
            <a:pPr>
              <a:spcBef>
                <a:spcPts val="800"/>
              </a:spcBef>
              <a:defRPr sz="1600" b="1">
                <a:solidFill>
                  <a:srgbClr val="082F49"/>
                </a:solidFill>
              </a:defRPr>
            </a:pPr>
            <a:r>
              <a:t>• Same-Day Repairs &amp; Continuous Kaizen:</a:t>
            </a:r>
          </a:p>
          <a:p>
            <a:pPr>
              <a:spcAft>
                <a:spcPts val="1000"/>
              </a:spcAft>
              <a:defRPr sz="1400">
                <a:solidFill>
                  <a:srgbClr val="1C3D5A"/>
                </a:solidFill>
              </a:defRPr>
            </a:pPr>
            <a:r>
              <a:t>   If something breaks, we can fix it on the same day. We can also add new custom features anytime based on farm team feedback.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2057400"/>
            <a:ext cx="2697480" cy="429768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292608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KEY FACT</a:t>
            </a:r>
          </a:p>
          <a:p>
            <a:pPr algn="ctr">
              <a:spcBef>
                <a:spcPts val="800"/>
              </a:spcBef>
              <a:defRPr sz="2200" b="1">
                <a:solidFill>
                  <a:srgbClr val="10B981"/>
                </a:solidFill>
              </a:defRPr>
            </a:pPr>
            <a:r>
              <a:t>SAME DAY</a:t>
            </a:r>
          </a:p>
          <a:p>
            <a:pPr algn="ctr">
              <a:spcBef>
                <a:spcPts val="1000"/>
              </a:spcBef>
              <a:defRPr sz="1200">
                <a:solidFill>
                  <a:srgbClr val="1C3D5A"/>
                </a:solidFill>
              </a:defRPr>
            </a:pPr>
            <a:r>
              <a:t>Fixes &amp; Upgrades Done On-Site Immediately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5C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32004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11480"/>
            <a:ext cx="2194560" cy="411480"/>
          </a:xfrm>
          <a:prstGeom prst="roundRect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● STRENGTH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41148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72A4A"/>
                </a:solidFill>
              </a:defRPr>
            </a:pPr>
            <a:r>
              <a:t>03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2A4A"/>
                </a:solidFill>
              </a:defRPr>
            </a:pPr>
            <a:r>
              <a:t>Cheap &amp; Efficient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Key Point: Good performance without buying overpriced commercial equipment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57400"/>
            <a:ext cx="7772400" cy="4297680"/>
          </a:xfrm>
          <a:prstGeom prst="roundRect">
            <a:avLst/>
          </a:prstGeom>
          <a:solidFill>
            <a:srgbClr val="F5FCFF"/>
          </a:solidFill>
          <a:ln w="19050">
            <a:solidFill>
              <a:srgbClr val="A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7406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600" b="1">
                <a:solidFill>
                  <a:srgbClr val="082F49"/>
                </a:solidFill>
              </a:defRPr>
            </a:pPr>
            <a:r>
              <a:t>• Cost-Effective Microcontrollers &amp; LoRa:</a:t>
            </a:r>
          </a:p>
          <a:p>
            <a:pPr>
              <a:spcAft>
                <a:spcPts val="1000"/>
              </a:spcAft>
              <a:defRPr sz="1400">
                <a:solidFill>
                  <a:srgbClr val="1C3D5A"/>
                </a:solidFill>
              </a:defRPr>
            </a:pPr>
            <a:r>
              <a:t>   Built with reliable, budget-friendly ESP32 chips and long-range wireless LoRa, which covers our large ponds easily.</a:t>
            </a:r>
          </a:p>
          <a:p>
            <a:pPr>
              <a:spcBef>
                <a:spcPts val="800"/>
              </a:spcBef>
              <a:defRPr sz="1600" b="1">
                <a:solidFill>
                  <a:srgbClr val="082F49"/>
                </a:solidFill>
              </a:defRPr>
            </a:pPr>
            <a:r>
              <a:t>• No Overpowered Waste:</a:t>
            </a:r>
          </a:p>
          <a:p>
            <a:pPr>
              <a:spcAft>
                <a:spcPts val="1000"/>
              </a:spcAft>
              <a:defRPr sz="1400">
                <a:solidFill>
                  <a:srgbClr val="1C3D5A"/>
                </a:solidFill>
              </a:defRPr>
            </a:pPr>
            <a:r>
              <a:t>   We only use what our farm really needs. It costs only a small fraction of expensive commercial aquaculture packages.</a:t>
            </a:r>
          </a:p>
          <a:p>
            <a:pPr>
              <a:spcBef>
                <a:spcPts val="800"/>
              </a:spcBef>
              <a:defRPr sz="1600" b="1">
                <a:solidFill>
                  <a:srgbClr val="082F49"/>
                </a:solidFill>
              </a:defRPr>
            </a:pPr>
            <a:r>
              <a:t>• Zero License Fees:</a:t>
            </a:r>
          </a:p>
          <a:p>
            <a:pPr>
              <a:spcAft>
                <a:spcPts val="1000"/>
              </a:spcAft>
              <a:defRPr sz="1400">
                <a:solidFill>
                  <a:srgbClr val="1C3D5A"/>
                </a:solidFill>
              </a:defRPr>
            </a:pPr>
            <a:r>
              <a:t>   Completely free from monthly or yearly software license fees, saving our company money every month.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2057400"/>
            <a:ext cx="2697480" cy="429768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292608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KEY FACT</a:t>
            </a:r>
          </a:p>
          <a:p>
            <a:pPr algn="ctr">
              <a:spcBef>
                <a:spcPts val="800"/>
              </a:spcBef>
              <a:defRPr sz="2200" b="1">
                <a:solidFill>
                  <a:srgbClr val="10B981"/>
                </a:solidFill>
              </a:defRPr>
            </a:pPr>
            <a:r>
              <a:t>$0 FEES</a:t>
            </a:r>
          </a:p>
          <a:p>
            <a:pPr algn="ctr">
              <a:spcBef>
                <a:spcPts val="1000"/>
              </a:spcBef>
              <a:defRPr sz="1200">
                <a:solidFill>
                  <a:srgbClr val="1C3D5A"/>
                </a:solidFill>
              </a:defRPr>
            </a:pPr>
            <a:r>
              <a:t>No Yearly Per-Pond Subscription Fees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5C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32004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11480"/>
            <a:ext cx="2194560" cy="411480"/>
          </a:xfrm>
          <a:prstGeom prst="roundRect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● WEAKNESS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41148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72A4A"/>
                </a:solidFill>
              </a:defRPr>
            </a:pPr>
            <a:r>
              <a:t>04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2A4A"/>
                </a:solidFill>
              </a:defRPr>
            </a:pPr>
            <a:r>
              <a:t>Big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Key Point: Huge data coming in daily; need PostgreSQL instead of Excel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57400"/>
            <a:ext cx="7772400" cy="4297680"/>
          </a:xfrm>
          <a:prstGeom prst="roundRect">
            <a:avLst/>
          </a:prstGeom>
          <a:solidFill>
            <a:srgbClr val="F5FCFF"/>
          </a:solidFill>
          <a:ln w="19050">
            <a:solidFill>
              <a:srgbClr val="A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7406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600" b="1">
                <a:solidFill>
                  <a:srgbClr val="082F49"/>
                </a:solidFill>
              </a:defRPr>
            </a:pPr>
            <a:r>
              <a:t>• Huge Daily Rows:</a:t>
            </a:r>
          </a:p>
          <a:p>
            <a:pPr>
              <a:spcAft>
                <a:spcPts val="1000"/>
              </a:spcAft>
              <a:defRPr sz="1400">
                <a:solidFill>
                  <a:srgbClr val="1C3D5A"/>
                </a:solidFill>
              </a:defRPr>
            </a:pPr>
            <a:r>
              <a:t>   200 ponds sending data every 10 mins = 1,200 rows every hour, 28,800 rows every day, and ~10.5 Million rows each year!</a:t>
            </a:r>
          </a:p>
          <a:p>
            <a:pPr>
              <a:spcBef>
                <a:spcPts val="800"/>
              </a:spcBef>
              <a:defRPr sz="1600" b="1">
                <a:solidFill>
                  <a:srgbClr val="082F49"/>
                </a:solidFill>
              </a:defRPr>
            </a:pPr>
            <a:r>
              <a:t>• Complex ID Mapping Logic:</a:t>
            </a:r>
          </a:p>
          <a:p>
            <a:pPr>
              <a:spcAft>
                <a:spcPts val="1000"/>
              </a:spcAft>
              <a:defRPr sz="1400">
                <a:solidFill>
                  <a:srgbClr val="1C3D5A"/>
                </a:solidFill>
              </a:defRPr>
            </a:pPr>
            <a:r>
              <a:t>   Sensors only send general pond numbers (01.02.12). Our code must check the active shrimp list and attach the right cycle ID (e.g. 2010212.40).</a:t>
            </a:r>
          </a:p>
          <a:p>
            <a:pPr>
              <a:spcBef>
                <a:spcPts val="800"/>
              </a:spcBef>
              <a:defRPr sz="1600" b="1">
                <a:solidFill>
                  <a:srgbClr val="082F49"/>
                </a:solidFill>
              </a:defRPr>
            </a:pPr>
            <a:r>
              <a:t>• Need PostgreSQL Database Skills:</a:t>
            </a:r>
          </a:p>
          <a:p>
            <a:pPr>
              <a:spcAft>
                <a:spcPts val="1000"/>
              </a:spcAft>
              <a:defRPr sz="1400">
                <a:solidFill>
                  <a:srgbClr val="1C3D5A"/>
                </a:solidFill>
              </a:defRPr>
            </a:pPr>
            <a:r>
              <a:t>   Basic Excel or Google Sheets will freeze and crash with this much data. I need to master PostgreSQL database setup so graphs load fast without lag.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2057400"/>
            <a:ext cx="2697480" cy="429768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292608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KEY FACT</a:t>
            </a:r>
          </a:p>
          <a:p>
            <a:pPr algn="ctr">
              <a:spcBef>
                <a:spcPts val="800"/>
              </a:spcBef>
              <a:defRPr sz="2200" b="1">
                <a:solidFill>
                  <a:srgbClr val="D97706"/>
                </a:solidFill>
              </a:defRPr>
            </a:pPr>
            <a:r>
              <a:t>28,800 ROWS/DAY</a:t>
            </a:r>
          </a:p>
          <a:p>
            <a:pPr algn="ctr">
              <a:spcBef>
                <a:spcPts val="1000"/>
              </a:spcBef>
              <a:defRPr sz="1200">
                <a:solidFill>
                  <a:srgbClr val="1C3D5A"/>
                </a:solidFill>
              </a:defRPr>
            </a:pPr>
            <a:r>
              <a:t>10.5M Rows/Year (Need PostgreSQL)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5C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32004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11480"/>
            <a:ext cx="2194560" cy="411480"/>
          </a:xfrm>
          <a:prstGeom prst="roundRect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● WEAKNESS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41148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72A4A"/>
                </a:solidFill>
              </a:defRPr>
            </a:pPr>
            <a:r>
              <a:t>05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2A4A"/>
                </a:solidFill>
              </a:defRPr>
            </a:pPr>
            <a:r>
              <a:t>Electronic Weakness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Key Point: Outdoor farm conditions are tough on electronic probes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57400"/>
            <a:ext cx="7772400" cy="4297680"/>
          </a:xfrm>
          <a:prstGeom prst="roundRect">
            <a:avLst/>
          </a:prstGeom>
          <a:solidFill>
            <a:srgbClr val="F5FCFF"/>
          </a:solidFill>
          <a:ln w="19050">
            <a:solidFill>
              <a:srgbClr val="A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7406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600" b="1">
                <a:solidFill>
                  <a:srgbClr val="082F49"/>
                </a:solidFill>
              </a:defRPr>
            </a:pPr>
            <a:r>
              <a:t>• Known Hardware Limitation:</a:t>
            </a:r>
          </a:p>
          <a:p>
            <a:pPr>
              <a:spcAft>
                <a:spcPts val="1000"/>
              </a:spcAft>
              <a:defRPr sz="1400">
                <a:solidFill>
                  <a:srgbClr val="1C3D5A"/>
                </a:solidFill>
              </a:defRPr>
            </a:pPr>
            <a:r>
              <a:t>   Even top brands like YSI advise checking probe measurements daily. Outdoor electronics always face heat, rain, and insects.</a:t>
            </a:r>
          </a:p>
          <a:p>
            <a:pPr>
              <a:spcBef>
                <a:spcPts val="800"/>
              </a:spcBef>
              <a:defRPr sz="1600" b="1">
                <a:solidFill>
                  <a:srgbClr val="082F49"/>
                </a:solidFill>
              </a:defRPr>
            </a:pPr>
            <a:r>
              <a:t>• Algae Build-Up &amp; Mineral Dirt:</a:t>
            </a:r>
          </a:p>
          <a:p>
            <a:pPr>
              <a:spcAft>
                <a:spcPts val="1000"/>
              </a:spcAft>
              <a:defRPr sz="1400">
                <a:solidFill>
                  <a:srgbClr val="1C3D5A"/>
                </a:solidFill>
              </a:defRPr>
            </a:pPr>
            <a:r>
              <a:t>   Algae and minerals in pond water stick to oxygen and pH probes, causing readings to drift if they are not cleaned regularly.</a:t>
            </a:r>
          </a:p>
          <a:p>
            <a:pPr>
              <a:spcBef>
                <a:spcPts val="800"/>
              </a:spcBef>
              <a:defRPr sz="1600" b="1">
                <a:solidFill>
                  <a:srgbClr val="082F49"/>
                </a:solidFill>
              </a:defRPr>
            </a:pPr>
            <a:r>
              <a:t>• Weekly Maintenance Routine:</a:t>
            </a:r>
          </a:p>
          <a:p>
            <a:pPr>
              <a:spcAft>
                <a:spcPts val="1000"/>
              </a:spcAft>
              <a:defRPr sz="1400">
                <a:solidFill>
                  <a:srgbClr val="1C3D5A"/>
                </a:solidFill>
              </a:defRPr>
            </a:pPr>
            <a:r>
              <a:t>   We must set up a strict weekly routine for farm workers to wash probes and verify that sensor numbers are accurate.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2057400"/>
            <a:ext cx="2697480" cy="429768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292608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KEY FACT</a:t>
            </a:r>
          </a:p>
          <a:p>
            <a:pPr algn="ctr">
              <a:spcBef>
                <a:spcPts val="800"/>
              </a:spcBef>
              <a:defRPr sz="2200" b="1">
                <a:solidFill>
                  <a:srgbClr val="D97706"/>
                </a:solidFill>
              </a:defRPr>
            </a:pPr>
            <a:r>
              <a:t>WEEKLY</a:t>
            </a:r>
          </a:p>
          <a:p>
            <a:pPr algn="ctr">
              <a:spcBef>
                <a:spcPts val="1000"/>
              </a:spcBef>
              <a:defRPr sz="1200">
                <a:solidFill>
                  <a:srgbClr val="1C3D5A"/>
                </a:solidFill>
              </a:defRPr>
            </a:pPr>
            <a:r>
              <a:t>Regular Probe Cleaning &amp; Verification Schedule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5C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32004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11480"/>
            <a:ext cx="2194560" cy="411480"/>
          </a:xfrm>
          <a:prstGeom prst="roundRect">
            <a:avLst/>
          </a:prstGeom>
          <a:solidFill>
            <a:srgbClr val="0284C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●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41148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72A4A"/>
                </a:solidFill>
              </a:defRPr>
            </a:pPr>
            <a:r>
              <a:t>06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2A4A"/>
                </a:solidFill>
              </a:defRPr>
            </a:pPr>
            <a:r>
              <a:t>Predictive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Key Point: Using data from 400 ponds per year to predict problems early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57400"/>
            <a:ext cx="7772400" cy="4297680"/>
          </a:xfrm>
          <a:prstGeom prst="roundRect">
            <a:avLst/>
          </a:prstGeom>
          <a:solidFill>
            <a:srgbClr val="F5FCFF"/>
          </a:solidFill>
          <a:ln w="19050">
            <a:solidFill>
              <a:srgbClr val="A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7406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600" b="1">
                <a:solidFill>
                  <a:srgbClr val="082F49"/>
                </a:solidFill>
              </a:defRPr>
            </a:pPr>
            <a:r>
              <a:t>• Big Data from 400 Ponds Per Year:</a:t>
            </a:r>
          </a:p>
          <a:p>
            <a:pPr>
              <a:spcAft>
                <a:spcPts val="1000"/>
              </a:spcAft>
              <a:defRPr sz="1400">
                <a:solidFill>
                  <a:srgbClr val="1C3D5A"/>
                </a:solidFill>
              </a:defRPr>
            </a:pPr>
            <a:r>
              <a:t>   Collect multi-cycle data across 400 ponds each year, combining harvest shrimp weight, water quality records, and daily feeding trends.</a:t>
            </a:r>
          </a:p>
          <a:p>
            <a:pPr>
              <a:spcBef>
                <a:spcPts val="800"/>
              </a:spcBef>
              <a:defRPr sz="1600" b="1">
                <a:solidFill>
                  <a:srgbClr val="082F49"/>
                </a:solidFill>
              </a:defRPr>
            </a:pPr>
            <a:r>
              <a:t>• Forecast Problems Before They Happen:</a:t>
            </a:r>
          </a:p>
          <a:p>
            <a:pPr>
              <a:spcAft>
                <a:spcPts val="1000"/>
              </a:spcAft>
              <a:defRPr sz="1400">
                <a:solidFill>
                  <a:srgbClr val="1C3D5A"/>
                </a:solidFill>
              </a:defRPr>
            </a:pPr>
            <a:r>
              <a:t>   Train smart models to spot warning signs and predict oxygen drops or water sickness before shrimp show signs of stress.</a:t>
            </a:r>
          </a:p>
          <a:p>
            <a:pPr>
              <a:spcBef>
                <a:spcPts val="800"/>
              </a:spcBef>
              <a:defRPr sz="1600" b="1">
                <a:solidFill>
                  <a:srgbClr val="082F49"/>
                </a:solidFill>
              </a:defRPr>
            </a:pPr>
            <a:r>
              <a:t>• Save Money on Feed Costs:</a:t>
            </a:r>
          </a:p>
          <a:p>
            <a:pPr>
              <a:spcAft>
                <a:spcPts val="1000"/>
              </a:spcAft>
              <a:defRPr sz="1400">
                <a:solidFill>
                  <a:srgbClr val="1C3D5A"/>
                </a:solidFill>
              </a:defRPr>
            </a:pPr>
            <a:r>
              <a:t>   Connect feeding amounts directly with dissolved oxygen and temperature to prevent overfeeding and cut expensive feed waste.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2057400"/>
            <a:ext cx="2697480" cy="429768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292608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KEY FACT</a:t>
            </a:r>
          </a:p>
          <a:p>
            <a:pPr algn="ctr">
              <a:spcBef>
                <a:spcPts val="800"/>
              </a:spcBef>
              <a:defRPr sz="2200" b="1">
                <a:solidFill>
                  <a:srgbClr val="0284C7"/>
                </a:solidFill>
              </a:defRPr>
            </a:pPr>
            <a:r>
              <a:t>400 PONDS/YR</a:t>
            </a:r>
          </a:p>
          <a:p>
            <a:pPr algn="ctr">
              <a:spcBef>
                <a:spcPts val="1000"/>
              </a:spcBef>
              <a:defRPr sz="1200">
                <a:solidFill>
                  <a:srgbClr val="1C3D5A"/>
                </a:solidFill>
              </a:defRPr>
            </a:pPr>
            <a:r>
              <a:t>Big Data to Train Smart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5C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32004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11480"/>
            <a:ext cx="2194560" cy="411480"/>
          </a:xfrm>
          <a:prstGeom prst="roundRect">
            <a:avLst/>
          </a:prstGeom>
          <a:solidFill>
            <a:srgbClr val="0284C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●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41148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72A4A"/>
                </a:solidFill>
              </a:defRPr>
            </a:pPr>
            <a:r>
              <a:t>07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2A4A"/>
                </a:solidFill>
              </a:defRPr>
            </a:pPr>
            <a:r>
              <a:t>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Key Point: Automatically control farm equipment based on water quality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57400"/>
            <a:ext cx="7772400" cy="4297680"/>
          </a:xfrm>
          <a:prstGeom prst="roundRect">
            <a:avLst/>
          </a:prstGeom>
          <a:solidFill>
            <a:srgbClr val="F5FCFF"/>
          </a:solidFill>
          <a:ln w="19050">
            <a:solidFill>
              <a:srgbClr val="A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7406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600" b="1">
                <a:solidFill>
                  <a:srgbClr val="082F49"/>
                </a:solidFill>
              </a:defRPr>
            </a:pPr>
            <a:r>
              <a:t>• Auto Paddlewheels &amp; Auto Feeders:</a:t>
            </a:r>
          </a:p>
          <a:p>
            <a:pPr>
              <a:spcAft>
                <a:spcPts val="1000"/>
              </a:spcAft>
              <a:defRPr sz="1400">
                <a:solidFill>
                  <a:srgbClr val="1C3D5A"/>
                </a:solidFill>
              </a:defRPr>
            </a:pPr>
            <a:r>
              <a:t>   Automatically turn on paddlewheels when oxygen drops, and adjust auto-feeders to feed only when shrimp have good appetite.</a:t>
            </a:r>
          </a:p>
          <a:p>
            <a:pPr>
              <a:spcBef>
                <a:spcPts val="800"/>
              </a:spcBef>
              <a:defRPr sz="1600" b="1">
                <a:solidFill>
                  <a:srgbClr val="082F49"/>
                </a:solidFill>
              </a:defRPr>
            </a:pPr>
            <a:r>
              <a:t>• Future: Underwater Cameras:</a:t>
            </a:r>
          </a:p>
          <a:p>
            <a:pPr>
              <a:spcAft>
                <a:spcPts val="1000"/>
              </a:spcAft>
              <a:defRPr sz="1400">
                <a:solidFill>
                  <a:srgbClr val="1C3D5A"/>
                </a:solidFill>
              </a:defRPr>
            </a:pPr>
            <a:r>
              <a:t>   Put cameras underwater to monitor uneaten feed pellets on the pond bottom and spot dead shrimp early.</a:t>
            </a:r>
          </a:p>
          <a:p>
            <a:pPr>
              <a:spcBef>
                <a:spcPts val="800"/>
              </a:spcBef>
              <a:defRPr sz="1600" b="1">
                <a:solidFill>
                  <a:srgbClr val="082F49"/>
                </a:solidFill>
              </a:defRPr>
            </a:pPr>
            <a:r>
              <a:t>• Future: Automated Water Pumps:</a:t>
            </a:r>
          </a:p>
          <a:p>
            <a:pPr>
              <a:spcAft>
                <a:spcPts val="1000"/>
              </a:spcAft>
              <a:defRPr sz="1400">
                <a:solidFill>
                  <a:srgbClr val="1C3D5A"/>
                </a:solidFill>
              </a:defRPr>
            </a:pPr>
            <a:r>
              <a:t>   Automatically turn on water pumps for water exchange when water quality numbers (like pH or turbidity) get bad.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2057400"/>
            <a:ext cx="2697480" cy="429768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292608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KEY FACT</a:t>
            </a:r>
          </a:p>
          <a:p>
            <a:pPr algn="ctr">
              <a:spcBef>
                <a:spcPts val="800"/>
              </a:spcBef>
              <a:defRPr sz="2200" b="1">
                <a:solidFill>
                  <a:srgbClr val="0284C7"/>
                </a:solidFill>
              </a:defRPr>
            </a:pPr>
            <a:r>
              <a:t>AUTO CONTROL</a:t>
            </a:r>
          </a:p>
          <a:p>
            <a:pPr algn="ctr">
              <a:spcBef>
                <a:spcPts val="1000"/>
              </a:spcBef>
              <a:defRPr sz="1200">
                <a:solidFill>
                  <a:srgbClr val="1C3D5A"/>
                </a:solidFill>
              </a:defRPr>
            </a:pPr>
            <a:r>
              <a:t>Paddlewheels, Feeders &amp; Pumps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5C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32004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11480"/>
            <a:ext cx="2194560" cy="41148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● THREAT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41148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72A4A"/>
                </a:solidFill>
              </a:defRPr>
            </a:pPr>
            <a:r>
              <a:t>08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2A4A"/>
                </a:solidFill>
              </a:defRPr>
            </a:pPr>
            <a:r>
              <a:t>Harsh Farm Environment &amp; Supply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Key Point: Protecting electronics from outdoor weather and keeping spare parts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57400"/>
            <a:ext cx="7772400" cy="4297680"/>
          </a:xfrm>
          <a:prstGeom prst="roundRect">
            <a:avLst/>
          </a:prstGeom>
          <a:solidFill>
            <a:srgbClr val="F5FCFF"/>
          </a:solidFill>
          <a:ln w="19050">
            <a:solidFill>
              <a:srgbClr val="A0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7406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600" b="1">
                <a:solidFill>
                  <a:srgbClr val="082F49"/>
                </a:solidFill>
              </a:defRPr>
            </a:pPr>
            <a:r>
              <a:t>• Tough Farm Weather Hazards:</a:t>
            </a:r>
          </a:p>
          <a:p>
            <a:pPr>
              <a:spcAft>
                <a:spcPts val="1000"/>
              </a:spcAft>
              <a:defRPr sz="1400">
                <a:solidFill>
                  <a:srgbClr val="1C3D5A"/>
                </a:solidFill>
              </a:defRPr>
            </a:pPr>
            <a:r>
              <a:t>   Outdoor electronics face heavy tropical thunderstorms, lightning power surges, high humidity, corrosion, and extreme heat.</a:t>
            </a:r>
          </a:p>
          <a:p>
            <a:pPr>
              <a:spcBef>
                <a:spcPts val="800"/>
              </a:spcBef>
              <a:defRPr sz="1600" b="1">
                <a:solidFill>
                  <a:srgbClr val="082F49"/>
                </a:solidFill>
              </a:defRPr>
            </a:pPr>
            <a:r>
              <a:t>• Electronic Spare Parts Delays:</a:t>
            </a:r>
          </a:p>
          <a:p>
            <a:pPr>
              <a:spcAft>
                <a:spcPts val="1000"/>
              </a:spcAft>
              <a:defRPr sz="1400">
                <a:solidFill>
                  <a:srgbClr val="1C3D5A"/>
                </a:solidFill>
              </a:defRPr>
            </a:pPr>
            <a:r>
              <a:t>   If special sensor probes or chips run out of stock with suppliers, building or replacing units could face delays.</a:t>
            </a:r>
          </a:p>
          <a:p>
            <a:pPr>
              <a:spcBef>
                <a:spcPts val="800"/>
              </a:spcBef>
              <a:defRPr sz="1600" b="1">
                <a:solidFill>
                  <a:srgbClr val="082F49"/>
                </a:solidFill>
              </a:defRPr>
            </a:pPr>
            <a:r>
              <a:t>• How We Protect It:</a:t>
            </a:r>
          </a:p>
          <a:p>
            <a:pPr>
              <a:spcAft>
                <a:spcPts val="1000"/>
              </a:spcAft>
              <a:defRPr sz="1400">
                <a:solidFill>
                  <a:srgbClr val="1C3D5A"/>
                </a:solidFill>
              </a:defRPr>
            </a:pPr>
            <a:r>
              <a:t>   Use IP67 waterproof boxes, lightning surge protectors, and always keep extra backup spare parts ready on the farm.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2057400"/>
            <a:ext cx="2697480" cy="429768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292608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KEY FACT</a:t>
            </a:r>
          </a:p>
          <a:p>
            <a:pPr algn="ctr">
              <a:spcBef>
                <a:spcPts val="800"/>
              </a:spcBef>
              <a:defRPr sz="2200" b="1">
                <a:solidFill>
                  <a:srgbClr val="DC2626"/>
                </a:solidFill>
              </a:defRPr>
            </a:pPr>
            <a:r>
              <a:t>IP67 BOXES</a:t>
            </a:r>
          </a:p>
          <a:p>
            <a:pPr algn="ctr">
              <a:spcBef>
                <a:spcPts val="1000"/>
              </a:spcBef>
              <a:defRPr sz="1200">
                <a:solidFill>
                  <a:srgbClr val="1C3D5A"/>
                </a:solidFill>
              </a:defRPr>
            </a:pPr>
            <a:r>
              <a:t>Waterproof &amp; Surge Protected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